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60" r:id="rId7"/>
    <p:sldId id="258" r:id="rId8"/>
    <p:sldId id="259" r:id="rId9"/>
    <p:sldId id="262" r:id="rId10"/>
  </p:sldIdLst>
  <p:sldSz cx="12192000" cy="6858000"/>
  <p:notesSz cx="6858000" cy="9144000"/>
  <p:defaultTextStyle>
    <a:defPPr>
      <a:defRPr lang="en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ardsectie" id="{CDCAA6C0-4645-4AFF-973A-6AE3F94203B6}">
          <p14:sldIdLst>
            <p14:sldId id="256"/>
            <p14:sldId id="257"/>
            <p14:sldId id="260"/>
            <p14:sldId id="258"/>
            <p14:sldId id="259"/>
            <p14:sldId id="262"/>
          </p14:sldIdLst>
        </p14:section>
        <p14:section name="Naamloze sectie" id="{4E400435-DE8A-4FC4-B92F-8DA6166B34A6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microsoft.com/office/2016/11/relationships/changesInfo" Target="changesInfos/changesInfo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andaele Yosha" userId="9e46ddaf-df5a-4623-8add-fe0b947d6181" providerId="ADAL" clId="{C0C05178-E97F-4600-9777-1D4069F9BFD8}"/>
    <pc:docChg chg="custSel modSld">
      <pc:chgData name="Vandaele Yosha" userId="9e46ddaf-df5a-4623-8add-fe0b947d6181" providerId="ADAL" clId="{C0C05178-E97F-4600-9777-1D4069F9BFD8}" dt="2021-12-17T14:48:31.752" v="124" actId="114"/>
      <pc:docMkLst>
        <pc:docMk/>
      </pc:docMkLst>
      <pc:sldChg chg="modSp mod">
        <pc:chgData name="Vandaele Yosha" userId="9e46ddaf-df5a-4623-8add-fe0b947d6181" providerId="ADAL" clId="{C0C05178-E97F-4600-9777-1D4069F9BFD8}" dt="2021-12-17T14:48:31.752" v="124" actId="114"/>
        <pc:sldMkLst>
          <pc:docMk/>
          <pc:sldMk cId="949077770" sldId="256"/>
        </pc:sldMkLst>
        <pc:spChg chg="mod">
          <ac:chgData name="Vandaele Yosha" userId="9e46ddaf-df5a-4623-8add-fe0b947d6181" providerId="ADAL" clId="{C0C05178-E97F-4600-9777-1D4069F9BFD8}" dt="2021-12-17T14:48:31.752" v="124" actId="114"/>
          <ac:spMkLst>
            <pc:docMk/>
            <pc:sldMk cId="949077770" sldId="256"/>
            <ac:spMk id="3" creationId="{510651AA-5F60-4B6E-8386-AEA67C018DF4}"/>
          </ac:spMkLst>
        </pc:spChg>
      </pc:sldChg>
    </pc:docChg>
  </pc:docChgLst>
  <pc:docChgLst>
    <pc:chgData name="Boury Fries" userId="3f8d8554-fab3-4764-ac68-3715b85b6c80" providerId="ADAL" clId="{4E627FB3-04C7-446E-862B-D79CBD804048}"/>
    <pc:docChg chg="addSld modSld">
      <pc:chgData name="Boury Fries" userId="3f8d8554-fab3-4764-ac68-3715b85b6c80" providerId="ADAL" clId="{4E627FB3-04C7-446E-862B-D79CBD804048}" dt="2023-11-28T13:45:50.997" v="81" actId="20577"/>
      <pc:docMkLst>
        <pc:docMk/>
      </pc:docMkLst>
      <pc:sldChg chg="modSp mod">
        <pc:chgData name="Boury Fries" userId="3f8d8554-fab3-4764-ac68-3715b85b6c80" providerId="ADAL" clId="{4E627FB3-04C7-446E-862B-D79CBD804048}" dt="2023-11-28T13:43:47.989" v="31" actId="20577"/>
        <pc:sldMkLst>
          <pc:docMk/>
          <pc:sldMk cId="1114309558" sldId="257"/>
        </pc:sldMkLst>
        <pc:spChg chg="mod">
          <ac:chgData name="Boury Fries" userId="3f8d8554-fab3-4764-ac68-3715b85b6c80" providerId="ADAL" clId="{4E627FB3-04C7-446E-862B-D79CBD804048}" dt="2023-11-28T13:43:47.989" v="31" actId="20577"/>
          <ac:spMkLst>
            <pc:docMk/>
            <pc:sldMk cId="1114309558" sldId="257"/>
            <ac:spMk id="3" creationId="{64915428-ACD8-4B22-96DC-2806680ED3AB}"/>
          </ac:spMkLst>
        </pc:spChg>
      </pc:sldChg>
      <pc:sldChg chg="modSp mod">
        <pc:chgData name="Boury Fries" userId="3f8d8554-fab3-4764-ac68-3715b85b6c80" providerId="ADAL" clId="{4E627FB3-04C7-446E-862B-D79CBD804048}" dt="2023-11-28T13:44:13.807" v="39" actId="20577"/>
        <pc:sldMkLst>
          <pc:docMk/>
          <pc:sldMk cId="160499841" sldId="258"/>
        </pc:sldMkLst>
        <pc:spChg chg="mod">
          <ac:chgData name="Boury Fries" userId="3f8d8554-fab3-4764-ac68-3715b85b6c80" providerId="ADAL" clId="{4E627FB3-04C7-446E-862B-D79CBD804048}" dt="2023-11-28T13:44:13.807" v="39" actId="20577"/>
          <ac:spMkLst>
            <pc:docMk/>
            <pc:sldMk cId="160499841" sldId="258"/>
            <ac:spMk id="3" creationId="{64915428-ACD8-4B22-96DC-2806680ED3AB}"/>
          </ac:spMkLst>
        </pc:spChg>
      </pc:sldChg>
      <pc:sldChg chg="modSp mod">
        <pc:chgData name="Boury Fries" userId="3f8d8554-fab3-4764-ac68-3715b85b6c80" providerId="ADAL" clId="{4E627FB3-04C7-446E-862B-D79CBD804048}" dt="2023-11-28T13:45:43.430" v="76" actId="20577"/>
        <pc:sldMkLst>
          <pc:docMk/>
          <pc:sldMk cId="3267762851" sldId="259"/>
        </pc:sldMkLst>
        <pc:spChg chg="mod">
          <ac:chgData name="Boury Fries" userId="3f8d8554-fab3-4764-ac68-3715b85b6c80" providerId="ADAL" clId="{4E627FB3-04C7-446E-862B-D79CBD804048}" dt="2023-11-28T13:45:43.430" v="76" actId="20577"/>
          <ac:spMkLst>
            <pc:docMk/>
            <pc:sldMk cId="3267762851" sldId="259"/>
            <ac:spMk id="2" creationId="{EF6BB071-C63E-40D3-93C6-9F99F27862FE}"/>
          </ac:spMkLst>
        </pc:spChg>
        <pc:spChg chg="mod">
          <ac:chgData name="Boury Fries" userId="3f8d8554-fab3-4764-ac68-3715b85b6c80" providerId="ADAL" clId="{4E627FB3-04C7-446E-862B-D79CBD804048}" dt="2023-11-28T13:45:40.351" v="72" actId="6549"/>
          <ac:spMkLst>
            <pc:docMk/>
            <pc:sldMk cId="3267762851" sldId="259"/>
            <ac:spMk id="3" creationId="{64915428-ACD8-4B22-96DC-2806680ED3AB}"/>
          </ac:spMkLst>
        </pc:spChg>
      </pc:sldChg>
      <pc:sldChg chg="modSp add mod">
        <pc:chgData name="Boury Fries" userId="3f8d8554-fab3-4764-ac68-3715b85b6c80" providerId="ADAL" clId="{4E627FB3-04C7-446E-862B-D79CBD804048}" dt="2023-11-28T13:45:50.997" v="81" actId="20577"/>
        <pc:sldMkLst>
          <pc:docMk/>
          <pc:sldMk cId="1652142467" sldId="262"/>
        </pc:sldMkLst>
        <pc:spChg chg="mod">
          <ac:chgData name="Boury Fries" userId="3f8d8554-fab3-4764-ac68-3715b85b6c80" providerId="ADAL" clId="{4E627FB3-04C7-446E-862B-D79CBD804048}" dt="2023-11-28T13:45:46.970" v="80" actId="20577"/>
          <ac:spMkLst>
            <pc:docMk/>
            <pc:sldMk cId="1652142467" sldId="262"/>
            <ac:spMk id="2" creationId="{EF6BB071-C63E-40D3-93C6-9F99F27862FE}"/>
          </ac:spMkLst>
        </pc:spChg>
        <pc:spChg chg="mod">
          <ac:chgData name="Boury Fries" userId="3f8d8554-fab3-4764-ac68-3715b85b6c80" providerId="ADAL" clId="{4E627FB3-04C7-446E-862B-D79CBD804048}" dt="2023-11-28T13:45:50.997" v="81" actId="20577"/>
          <ac:spMkLst>
            <pc:docMk/>
            <pc:sldMk cId="1652142467" sldId="262"/>
            <ac:spMk id="3" creationId="{64915428-ACD8-4B22-96DC-2806680ED3AB}"/>
          </ac:spMkLst>
        </pc:spChg>
      </pc:sldChg>
    </pc:docChg>
  </pc:docChgLst>
  <pc:docChgLst>
    <pc:chgData name="Vandaele Yosha" userId="S::yosha.vandaele@howest.be::9e46ddaf-df5a-4623-8add-fe0b947d6181" providerId="AD" clId="Web-{E204D132-4CFC-4F24-0FBD-6FDAF349B147}"/>
    <pc:docChg chg="modSld">
      <pc:chgData name="Vandaele Yosha" userId="S::yosha.vandaele@howest.be::9e46ddaf-df5a-4623-8add-fe0b947d6181" providerId="AD" clId="Web-{E204D132-4CFC-4F24-0FBD-6FDAF349B147}" dt="2021-12-17T14:47:42.196" v="195" actId="20577"/>
      <pc:docMkLst>
        <pc:docMk/>
      </pc:docMkLst>
      <pc:sldChg chg="modSp">
        <pc:chgData name="Vandaele Yosha" userId="S::yosha.vandaele@howest.be::9e46ddaf-df5a-4623-8add-fe0b947d6181" providerId="AD" clId="Web-{E204D132-4CFC-4F24-0FBD-6FDAF349B147}" dt="2021-12-17T14:47:42.196" v="195" actId="20577"/>
        <pc:sldMkLst>
          <pc:docMk/>
          <pc:sldMk cId="949077770" sldId="256"/>
        </pc:sldMkLst>
        <pc:spChg chg="mod">
          <ac:chgData name="Vandaele Yosha" userId="S::yosha.vandaele@howest.be::9e46ddaf-df5a-4623-8add-fe0b947d6181" providerId="AD" clId="Web-{E204D132-4CFC-4F24-0FBD-6FDAF349B147}" dt="2021-12-17T14:47:42.196" v="195" actId="20577"/>
          <ac:spMkLst>
            <pc:docMk/>
            <pc:sldMk cId="949077770" sldId="256"/>
            <ac:spMk id="3" creationId="{510651AA-5F60-4B6E-8386-AEA67C018DF4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CAAC4-8D12-47CF-BE43-7EB46A4D59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D39AEBC-7606-4ADC-B5B0-6A3BC80A2F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50DAEE-C80D-4F35-B786-91FB7CA48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08/15/2026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D2E275-2AB5-4A66-A8E8-90F9ABC8D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AA5F36-6144-4864-8555-3C920AD71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‹nr.›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5182732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551CC-2784-471A-819A-0BB647B6B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BF8D80-3B7B-4F28-AEFD-D834AEBCC6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1B208A-B304-4974-A753-A386793B0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08/15/2026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D83DB3-E76E-4DCC-A934-DE6FC5762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5E50E5-487F-4F26-B329-FF396CB20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‹nr.›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825834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B2E1F-FBE7-4F65-94C7-B636380FEB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8C9729-7ECE-4365-98F3-8DFF780FEB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FA8B8C-4C53-4B4C-BD2C-864D0D7B33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08/15/2026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D7CEA2-7CAF-4851-A38B-618DD216F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BB7E0B-5EA5-473D-BF56-D86D080A70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‹nr.›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667619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9935E0-152D-4AF7-BD87-955474D08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689FBD-9AF6-494E-A906-31E047899D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09ECF5-FC69-44A2-865A-BF59EEA41D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F44A24-6932-4F11-BD5E-0F51DF2B1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08/15/2026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BA03F3-39FB-4D6C-8751-A7EDF6009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E43C9F-1845-44AD-86AA-8D2EC39EB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‹nr.›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1224976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E56D3-AB15-4310-A6DA-FCCC13009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F4F9E5-544E-408F-9A5B-5A9D043BB0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64E7D5-72F6-463A-BA78-97C231B737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20D308-9D2F-4E2B-98E8-42F65039F8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9D9437-C09B-4818-B72A-8E54A3BA32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395E20-1927-449F-8CA5-4628C2F5A1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08/15/2026</a:t>
            </a:fld>
            <a:endParaRPr lang="en-B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88AC43-B655-428D-AE3D-DB74BBB15E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E5E8EE6-694D-461F-AE93-765F8A3E3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‹nr.›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925733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4436E-1F26-4110-83C7-943D2F425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18F822-E6C7-462B-97CD-78D3D4DF09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08/15/2026</a:t>
            </a:fld>
            <a:endParaRPr lang="en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E2244D-E53E-43D0-A4F2-9C9D674BBE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203CDC-F7C2-4A6E-A008-CEB3A6D58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‹nr.›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75667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3B3D8CF-1BB0-4BB5-A3C3-69A22ECD53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08/15/2026</a:t>
            </a:fld>
            <a:endParaRPr lang="en-B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FAB160-C248-403F-AD25-158A965BEF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F1B489-7B94-4B54-B3AF-E8AF8FD50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‹nr.›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380687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D3942C-8A0D-4781-A8F3-57B3EE3CD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FE01E5-1D61-43C7-B6CD-7037DCB14F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3A444E-E01C-4A28-83F1-E48254F6BE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88AD5B-93CF-4725-B418-C1ADE03F36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08/15/2026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C9DC45-0596-4AB3-91ED-EC8B0A889B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BB3885-5DD4-4DA8-B5F5-40745170F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‹nr.›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2303798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99836-3F3C-4E2F-9190-DEB510EE6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B6E0E5-A1D5-4606-A4EC-5A8116A487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841ED8-FBEC-48EB-B5A6-F5032E1018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5DA45B-1955-45CA-80B0-66008EC0F9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08/15/2026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3C90FA-53E2-41CE-BD63-ECA490D3E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8A9B8D-2082-4BE4-BCE5-07F8F9334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‹nr.›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8778602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2318EC-44E3-4FD6-AF24-AC5021AFC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538C05-3BE4-4F1F-A85F-EBF60F029F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A43FC-668F-4A16-B33A-A1704CA88B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08/15/2026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84EA9D-B745-4822-9D4F-8E34B4550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11FCBD-2F9B-4E40-B993-5543BC625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‹nr.›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9155455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3262F4C-847A-45E8-89DF-86FADD929C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B5F776-752A-4772-8F18-20F7169A31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A0D1A1-5C8E-4021-A99C-3556DF8A3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08/15/2026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2E59EE-6B67-4900-9B15-8052B4D98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C593B4-0982-4C28-9583-53F588B94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‹nr.›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0954481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389769-7B4A-4C8C-94A2-1CE676F46A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26073D-45AC-4934-9FAA-61975D5C06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875320-EECE-4069-9EC1-5688F7A887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085877-2B37-48E7-8B6D-4D4ED486130A}" type="datetimeFigureOut">
              <a:rPr lang="en-BE" smtClean="0"/>
              <a:t>08/15/2026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E6D776-80A5-466B-B9A0-F462DF91CA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80D87A-C974-47EE-BF90-816BF0B07F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5161DE-E191-4798-91BE-355EA90292A5}" type="slidenum">
              <a:rPr lang="en-BE" smtClean="0"/>
              <a:t>‹nr.›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1881782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85F04-C22A-42D7-B131-70E81FD946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400">
                <a:solidFill>
                  <a:srgbClr val="1C323E"/>
                </a:solidFill>
                <a:latin typeface="Aptos Display"/>
              </a:rPr>
              <a:t>GPP Exam: Zombie AI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0651AA-5F60-4B6E-8386-AEA67C018D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sz="2400">
                <a:solidFill>
                  <a:srgbClr val="556069"/>
                </a:solidFill>
                <a:latin typeface="Aptos"/>
              </a:rPr>
              <a:t>Retake AI improvements — Thymme Mouchrique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65960" y="4343400"/>
            <a:ext cx="7772400" cy="502920"/>
          </a:xfrm>
          <a:prstGeom prst="roundRect">
            <a:avLst/>
          </a:prstGeom>
          <a:solidFill>
            <a:srgbClr val="F1F6F8"/>
          </a:solidFill>
          <a:ln w="12700">
            <a:solidFill>
              <a:srgbClr val="CD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0">
                <a:solidFill>
                  <a:srgbClr val="1C323E"/>
                </a:solidFill>
                <a:latin typeface="Aptos"/>
              </a:rPr>
              <a:t>Focus: survival through smarter combat, looting, fleeing, and village traversal</a:t>
            </a:r>
          </a:p>
        </p:txBody>
      </p:sp>
    </p:spTree>
    <p:extLst>
      <p:ext uri="{BB962C8B-B14F-4D97-AF65-F5344CB8AC3E}">
        <p14:creationId xmlns:p14="http://schemas.microsoft.com/office/powerpoint/2010/main" val="9490777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>
                <a:solidFill>
                  <a:srgbClr val="1C323E"/>
                </a:solidFill>
                <a:latin typeface="Aptos Display"/>
              </a:rPr>
              <a:t>Decision Making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41248" y="1453896"/>
            <a:ext cx="1143000" cy="292608"/>
          </a:xfrm>
          <a:prstGeom prst="roundRect">
            <a:avLst/>
          </a:prstGeom>
          <a:solidFill>
            <a:srgbClr val="E76F51"/>
          </a:solidFill>
          <a:ln w="1270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BEFORE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55080" y="1453896"/>
            <a:ext cx="1143000" cy="29260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NOW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91640"/>
            <a:ext cx="4892040" cy="2240280"/>
          </a:xfrm>
          <a:prstGeom prst="roundRect">
            <a:avLst/>
          </a:prstGeom>
          <a:solidFill>
            <a:srgbClr val="F7F9FA"/>
          </a:solidFill>
          <a:ln w="12700">
            <a:solidFill>
              <a:srgbClr val="CD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989320" y="1691640"/>
            <a:ext cx="4892040" cy="2240280"/>
          </a:xfrm>
          <a:prstGeom prst="roundRect">
            <a:avLst/>
          </a:prstGeom>
          <a:solidFill>
            <a:srgbClr val="F7F9FA"/>
          </a:solidFill>
          <a:ln w="12700">
            <a:solidFill>
              <a:srgbClr val="CD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2011680"/>
            <a:ext cx="4480560" cy="1828800"/>
          </a:xfrm>
          <a:prstGeom prst="rect">
            <a:avLst/>
          </a:prstGeom>
          <a:noFill/>
        </p:spPr>
        <p:txBody>
          <a:bodyPr wrap="square" lIns="73152" tIns="18288" rIns="73152" bIns="18288">
            <a:spAutoFit/>
          </a:bodyPr>
          <a:lstStyle/>
          <a:p>
            <a:pPr>
              <a:spcAft>
                <a:spcPts val="300"/>
              </a:spcAft>
              <a:defRPr sz="1400">
                <a:solidFill>
                  <a:srgbClr val="556069"/>
                </a:solidFill>
                <a:latin typeface="Aptos"/>
              </a:defRPr>
            </a:pPr>
            <a:r>
              <a:t>Several tasks could overwrite each other</a:t>
            </a:r>
          </a:p>
          <a:p>
            <a:pPr>
              <a:spcAft>
                <a:spcPts val="300"/>
              </a:spcAft>
              <a:defRPr sz="1400">
                <a:solidFill>
                  <a:srgbClr val="556069"/>
                </a:solidFill>
                <a:latin typeface="Aptos"/>
              </a:defRPr>
            </a:pPr>
            <a:r>
              <a:t>Enemy / item / house choices competed blindly</a:t>
            </a:r>
          </a:p>
          <a:p>
            <a:pPr>
              <a:spcAft>
                <a:spcPts val="300"/>
              </a:spcAft>
              <a:defRPr sz="1400">
                <a:solidFill>
                  <a:srgbClr val="556069"/>
                </a:solidFill>
                <a:latin typeface="Aptos"/>
              </a:defRPr>
            </a:pPr>
            <a:r>
              <a:t>Flee often blocked useful looting decisions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011680"/>
            <a:ext cx="4480560" cy="760208"/>
          </a:xfrm>
          <a:prstGeom prst="rect">
            <a:avLst/>
          </a:prstGeom>
          <a:noFill/>
        </p:spPr>
        <p:txBody>
          <a:bodyPr wrap="square" lIns="73152" tIns="18288" rIns="73152" bIns="18288">
            <a:spAutoFit/>
          </a:bodyPr>
          <a:lstStyle/>
          <a:p>
            <a:pPr>
              <a:spcAft>
                <a:spcPts val="300"/>
              </a:spcAft>
              <a:defRPr sz="1400">
                <a:solidFill>
                  <a:srgbClr val="1C323E"/>
                </a:solidFill>
                <a:latin typeface="Aptos"/>
              </a:defRPr>
            </a:pPr>
            <a:r>
              <a:rPr dirty="0"/>
              <a:t>Single combat decision sets attack / flee / flee</a:t>
            </a:r>
            <a:r>
              <a:rPr lang="nl-BE" dirty="0"/>
              <a:t> </a:t>
            </a:r>
            <a:r>
              <a:rPr dirty="0"/>
              <a:t>to</a:t>
            </a:r>
            <a:r>
              <a:rPr lang="nl-BE" dirty="0"/>
              <a:t> </a:t>
            </a:r>
            <a:r>
              <a:rPr dirty="0"/>
              <a:t>house</a:t>
            </a:r>
          </a:p>
          <a:p>
            <a:pPr>
              <a:spcAft>
                <a:spcPts val="300"/>
              </a:spcAft>
              <a:defRPr sz="1400">
                <a:solidFill>
                  <a:srgbClr val="1C323E"/>
                </a:solidFill>
                <a:latin typeface="Aptos"/>
              </a:defRPr>
            </a:pPr>
            <a:r>
              <a:rPr dirty="0"/>
              <a:t>Known weapons and houses influence decisions</a:t>
            </a:r>
          </a:p>
          <a:p>
            <a:pPr>
              <a:spcAft>
                <a:spcPts val="300"/>
              </a:spcAft>
              <a:defRPr sz="1400">
                <a:solidFill>
                  <a:srgbClr val="1C323E"/>
                </a:solidFill>
                <a:latin typeface="Aptos"/>
              </a:defRPr>
            </a:pPr>
            <a:r>
              <a:rPr dirty="0"/>
              <a:t>State refresh catches ammo, health, stamina changes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650992" y="2811780"/>
            <a:ext cx="320040" cy="0"/>
          </a:xfrm>
          <a:prstGeom prst="line">
            <a:avLst/>
          </a:prstGeom>
          <a:ln w="25400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14400" y="4572000"/>
            <a:ext cx="1874519" cy="640080"/>
          </a:xfrm>
          <a:prstGeom prst="roundRect">
            <a:avLst/>
          </a:prstGeom>
          <a:solidFill>
            <a:srgbClr val="437CA7"/>
          </a:solidFill>
          <a:ln w="12700">
            <a:solidFill>
              <a:srgbClr val="437C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Perception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788920" y="4892040"/>
            <a:ext cx="256032" cy="0"/>
          </a:xfrm>
          <a:prstGeom prst="line">
            <a:avLst/>
          </a:prstGeom>
          <a:ln w="17780">
            <a:solidFill>
              <a:srgbClr val="CDD7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044952" y="4572000"/>
            <a:ext cx="1874519" cy="640080"/>
          </a:xfrm>
          <a:prstGeom prst="roundRect">
            <a:avLst/>
          </a:prstGeom>
          <a:solidFill>
            <a:srgbClr val="437CA7"/>
          </a:solidFill>
          <a:ln w="12700">
            <a:solidFill>
              <a:srgbClr val="437C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Self state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919472" y="4892040"/>
            <a:ext cx="256032" cy="0"/>
          </a:xfrm>
          <a:prstGeom prst="line">
            <a:avLst/>
          </a:prstGeom>
          <a:ln w="17780">
            <a:solidFill>
              <a:srgbClr val="CDD7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175504" y="4572000"/>
            <a:ext cx="1874519" cy="64008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Combat choice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050024" y="4892040"/>
            <a:ext cx="256032" cy="0"/>
          </a:xfrm>
          <a:prstGeom prst="line">
            <a:avLst/>
          </a:prstGeom>
          <a:ln w="17780">
            <a:solidFill>
              <a:srgbClr val="CDD7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306056" y="4572000"/>
            <a:ext cx="1874519" cy="640080"/>
          </a:xfrm>
          <a:prstGeom prst="roundRect">
            <a:avLst/>
          </a:prstGeom>
          <a:solidFill>
            <a:srgbClr val="E9C46A"/>
          </a:solidFill>
          <a:ln w="12700">
            <a:solidFill>
              <a:srgbClr val="E9C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Resource memory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180576" y="4892040"/>
            <a:ext cx="256032" cy="0"/>
          </a:xfrm>
          <a:prstGeom prst="line">
            <a:avLst/>
          </a:prstGeom>
          <a:ln w="17780">
            <a:solidFill>
              <a:srgbClr val="CDD7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436608" y="4572000"/>
            <a:ext cx="1874519" cy="64008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BT action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486400"/>
            <a:ext cx="987552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500" b="0">
                <a:solidFill>
                  <a:srgbClr val="1C323E"/>
                </a:solidFill>
                <a:latin typeface="Aptos"/>
              </a:rPr>
              <a:t>Main change: less random priority fighting; decisions now preserve intent until the situation actually changes.</a:t>
            </a:r>
          </a:p>
        </p:txBody>
      </p:sp>
    </p:spTree>
    <p:extLst>
      <p:ext uri="{BB962C8B-B14F-4D97-AF65-F5344CB8AC3E}">
        <p14:creationId xmlns:p14="http://schemas.microsoft.com/office/powerpoint/2010/main" val="11143095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>
                <a:solidFill>
                  <a:srgbClr val="1C323E"/>
                </a:solidFill>
                <a:latin typeface="Aptos Display"/>
              </a:rPr>
              <a:t>Enemy handling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BE" i="1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841248" y="1453896"/>
            <a:ext cx="1143000" cy="292608"/>
          </a:xfrm>
          <a:prstGeom prst="roundRect">
            <a:avLst/>
          </a:prstGeom>
          <a:solidFill>
            <a:srgbClr val="E76F51"/>
          </a:solidFill>
          <a:ln w="1270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BEFORE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55080" y="1453896"/>
            <a:ext cx="1143000" cy="29260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NOW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91640"/>
            <a:ext cx="4892040" cy="2057400"/>
          </a:xfrm>
          <a:prstGeom prst="roundRect">
            <a:avLst/>
          </a:prstGeom>
          <a:solidFill>
            <a:srgbClr val="F7F9FA"/>
          </a:solidFill>
          <a:ln w="12700">
            <a:solidFill>
              <a:srgbClr val="CD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989320" y="1691640"/>
            <a:ext cx="4892040" cy="2057400"/>
          </a:xfrm>
          <a:prstGeom prst="roundRect">
            <a:avLst/>
          </a:prstGeom>
          <a:solidFill>
            <a:srgbClr val="F7F9FA"/>
          </a:solidFill>
          <a:ln w="12700">
            <a:solidFill>
              <a:srgbClr val="CD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2011680"/>
            <a:ext cx="4480560" cy="1645920"/>
          </a:xfrm>
          <a:prstGeom prst="rect">
            <a:avLst/>
          </a:prstGeom>
          <a:noFill/>
        </p:spPr>
        <p:txBody>
          <a:bodyPr wrap="square" lIns="73152" tIns="18288" rIns="73152" bIns="18288">
            <a:spAutoFit/>
          </a:bodyPr>
          <a:lstStyle/>
          <a:p>
            <a:pPr>
              <a:spcAft>
                <a:spcPts val="300"/>
              </a:spcAft>
              <a:defRPr sz="1400">
                <a:solidFill>
                  <a:srgbClr val="556069"/>
                </a:solidFill>
                <a:latin typeface="Aptos"/>
              </a:defRPr>
            </a:pPr>
            <a:r>
              <a:t>Unarmed survivor often fled past useful villages</a:t>
            </a:r>
          </a:p>
          <a:p>
            <a:pPr>
              <a:spcAft>
                <a:spcPts val="300"/>
              </a:spcAft>
              <a:defRPr sz="1400">
                <a:solidFill>
                  <a:srgbClr val="556069"/>
                </a:solidFill>
                <a:latin typeface="Aptos"/>
              </a:defRPr>
            </a:pPr>
            <a:r>
              <a:t>Flee targets were static and could become bad quickly</a:t>
            </a:r>
          </a:p>
          <a:p>
            <a:pPr>
              <a:spcAft>
                <a:spcPts val="300"/>
              </a:spcAft>
              <a:defRPr sz="1400">
                <a:solidFill>
                  <a:srgbClr val="556069"/>
                </a:solidFill>
                <a:latin typeface="Aptos"/>
              </a:defRPr>
            </a:pPr>
            <a:r>
              <a:t>Shotguns could be burned at bad range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011680"/>
            <a:ext cx="4480560" cy="1645920"/>
          </a:xfrm>
          <a:prstGeom prst="rect">
            <a:avLst/>
          </a:prstGeom>
          <a:noFill/>
        </p:spPr>
        <p:txBody>
          <a:bodyPr wrap="square" lIns="73152" tIns="18288" rIns="73152" bIns="18288">
            <a:spAutoFit/>
          </a:bodyPr>
          <a:lstStyle/>
          <a:p>
            <a:pPr>
              <a:spcAft>
                <a:spcPts val="300"/>
              </a:spcAft>
              <a:defRPr sz="1400">
                <a:solidFill>
                  <a:srgbClr val="1C323E"/>
                </a:solidFill>
                <a:latin typeface="Aptos"/>
              </a:defRPr>
            </a:pPr>
            <a:r>
              <a:t>Unarmed survivor prefers known gun, then known house, then flee</a:t>
            </a:r>
          </a:p>
          <a:p>
            <a:pPr>
              <a:spcAft>
                <a:spcPts val="300"/>
              </a:spcAft>
              <a:defRPr sz="1400">
                <a:solidFill>
                  <a:srgbClr val="1C323E"/>
                </a:solidFill>
                <a:latin typeface="Aptos"/>
              </a:defRPr>
            </a:pPr>
            <a:r>
              <a:t>Flee updates while the zombie moves</a:t>
            </a:r>
          </a:p>
          <a:p>
            <a:pPr>
              <a:spcAft>
                <a:spcPts val="300"/>
              </a:spcAft>
              <a:defRPr sz="1400">
                <a:solidFill>
                  <a:srgbClr val="1C323E"/>
                </a:solidFill>
                <a:latin typeface="Aptos"/>
              </a:defRPr>
            </a:pPr>
            <a:r>
              <a:t>Weapon choice is distance-aware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650992" y="2720340"/>
            <a:ext cx="320040" cy="0"/>
          </a:xfrm>
          <a:prstGeom prst="line">
            <a:avLst/>
          </a:prstGeom>
          <a:ln w="25400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14400" y="4251960"/>
            <a:ext cx="1554480" cy="502920"/>
          </a:xfrm>
          <a:prstGeom prst="roundRect">
            <a:avLst/>
          </a:prstGeom>
          <a:solidFill>
            <a:srgbClr val="437CA7"/>
          </a:solidFill>
          <a:ln w="12700">
            <a:solidFill>
              <a:srgbClr val="437C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Enemy seen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468880" y="4498848"/>
            <a:ext cx="457200" cy="0"/>
          </a:xfrm>
          <a:prstGeom prst="line">
            <a:avLst/>
          </a:prstGeom>
          <a:ln w="19050">
            <a:solidFill>
              <a:srgbClr val="CDD7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926080" y="4160520"/>
            <a:ext cx="1554480" cy="685800"/>
          </a:xfrm>
          <a:prstGeom prst="roundRect">
            <a:avLst/>
          </a:prstGeom>
          <a:solidFill>
            <a:srgbClr val="F1F6F8"/>
          </a:solidFill>
          <a:ln w="12700">
            <a:solidFill>
              <a:srgbClr val="CD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 b="1">
                <a:solidFill>
                  <a:srgbClr val="1C323E"/>
                </a:solidFill>
                <a:latin typeface="Aptos"/>
              </a:rPr>
              <a:t>Has weapon?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4480560" y="4114800"/>
            <a:ext cx="594360" cy="384048"/>
          </a:xfrm>
          <a:prstGeom prst="line">
            <a:avLst/>
          </a:prstGeom>
          <a:ln w="19050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480560" y="4498848"/>
            <a:ext cx="594360" cy="393192"/>
          </a:xfrm>
          <a:prstGeom prst="line">
            <a:avLst/>
          </a:prstGeom>
          <a:ln w="19050">
            <a:solidFill>
              <a:srgbClr val="E9C4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074920" y="3822191"/>
            <a:ext cx="1234440" cy="50292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Fight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74920" y="4645152"/>
            <a:ext cx="1828800" cy="685800"/>
          </a:xfrm>
          <a:prstGeom prst="roundRect">
            <a:avLst/>
          </a:prstGeom>
          <a:solidFill>
            <a:srgbClr val="F1F6F8"/>
          </a:solidFill>
          <a:ln w="12700">
            <a:solidFill>
              <a:srgbClr val="CD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 b="1">
                <a:solidFill>
                  <a:srgbClr val="1C323E"/>
                </a:solidFill>
                <a:latin typeface="Aptos"/>
              </a:rPr>
              <a:t>Known gun / house?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6903720" y="4754880"/>
            <a:ext cx="640080" cy="228600"/>
          </a:xfrm>
          <a:prstGeom prst="line">
            <a:avLst/>
          </a:prstGeom>
          <a:ln w="19050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03720" y="4983480"/>
            <a:ext cx="640080" cy="411480"/>
          </a:xfrm>
          <a:prstGeom prst="line">
            <a:avLst/>
          </a:prstGeom>
          <a:ln w="1905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543800" y="4480560"/>
            <a:ext cx="1645920" cy="502920"/>
          </a:xfrm>
          <a:prstGeom prst="roundRect">
            <a:avLst/>
          </a:prstGeom>
          <a:solidFill>
            <a:srgbClr val="E9C46A"/>
          </a:solidFill>
          <a:ln w="12700">
            <a:solidFill>
              <a:srgbClr val="E9C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 b="1">
                <a:solidFill>
                  <a:srgbClr val="1C323E"/>
                </a:solidFill>
                <a:latin typeface="Aptos"/>
              </a:rPr>
              <a:t>Resupply route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43800" y="5166360"/>
            <a:ext cx="1645920" cy="502920"/>
          </a:xfrm>
          <a:prstGeom prst="roundRect">
            <a:avLst/>
          </a:prstGeom>
          <a:solidFill>
            <a:srgbClr val="E76F51"/>
          </a:solidFill>
          <a:ln w="1270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Sprint flee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897880"/>
            <a:ext cx="987552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500" b="1">
                <a:solidFill>
                  <a:srgbClr val="1C323E"/>
                </a:solidFill>
                <a:latin typeface="Aptos"/>
              </a:rPr>
              <a:t>Exceptional fix: fleeing can now become useful resupply movement instead of pure retreat.</a:t>
            </a:r>
          </a:p>
        </p:txBody>
      </p:sp>
    </p:spTree>
    <p:extLst>
      <p:ext uri="{BB962C8B-B14F-4D97-AF65-F5344CB8AC3E}">
        <p14:creationId xmlns:p14="http://schemas.microsoft.com/office/powerpoint/2010/main" val="3827530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>
                <a:solidFill>
                  <a:srgbClr val="1C323E"/>
                </a:solidFill>
                <a:latin typeface="Aptos Display"/>
              </a:rPr>
              <a:t>Inventory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BE" i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841248" y="1453896"/>
            <a:ext cx="1143000" cy="292608"/>
          </a:xfrm>
          <a:prstGeom prst="roundRect">
            <a:avLst/>
          </a:prstGeom>
          <a:solidFill>
            <a:srgbClr val="E76F51"/>
          </a:solidFill>
          <a:ln w="1270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BEFORE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55080" y="1453896"/>
            <a:ext cx="1143000" cy="29260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NOW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91640"/>
            <a:ext cx="4892040" cy="2148840"/>
          </a:xfrm>
          <a:prstGeom prst="roundRect">
            <a:avLst/>
          </a:prstGeom>
          <a:solidFill>
            <a:srgbClr val="F7F9FA"/>
          </a:solidFill>
          <a:ln w="12700">
            <a:solidFill>
              <a:srgbClr val="CD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989320" y="1691640"/>
            <a:ext cx="4892040" cy="2148840"/>
          </a:xfrm>
          <a:prstGeom prst="roundRect">
            <a:avLst/>
          </a:prstGeom>
          <a:solidFill>
            <a:srgbClr val="F7F9FA"/>
          </a:solidFill>
          <a:ln w="12700">
            <a:solidFill>
              <a:srgbClr val="CD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2011680"/>
            <a:ext cx="4480560" cy="1737360"/>
          </a:xfrm>
          <a:prstGeom prst="rect">
            <a:avLst/>
          </a:prstGeom>
          <a:noFill/>
        </p:spPr>
        <p:txBody>
          <a:bodyPr wrap="square" lIns="73152" tIns="18288" rIns="73152" bIns="18288">
            <a:spAutoFit/>
          </a:bodyPr>
          <a:lstStyle/>
          <a:p>
            <a:pPr>
              <a:spcAft>
                <a:spcPts val="300"/>
              </a:spcAft>
              <a:defRPr sz="1400">
                <a:solidFill>
                  <a:srgbClr val="556069"/>
                </a:solidFill>
                <a:latin typeface="Aptos"/>
              </a:defRPr>
            </a:pPr>
            <a:r>
              <a:t>Item scoring already used usefulness + distance</a:t>
            </a:r>
          </a:p>
          <a:p>
            <a:pPr>
              <a:spcAft>
                <a:spcPts val="300"/>
              </a:spcAft>
              <a:defRPr sz="1400">
                <a:solidFill>
                  <a:srgbClr val="556069"/>
                </a:solidFill>
                <a:latin typeface="Aptos"/>
              </a:defRPr>
            </a:pPr>
            <a:r>
              <a:t>Duplicates were mostly ignored early</a:t>
            </a:r>
          </a:p>
          <a:p>
            <a:pPr>
              <a:spcAft>
                <a:spcPts val="300"/>
              </a:spcAft>
              <a:defRPr sz="1400">
                <a:solidFill>
                  <a:srgbClr val="556069"/>
                </a:solidFill>
                <a:latin typeface="Aptos"/>
              </a:defRPr>
            </a:pPr>
            <a:r>
              <a:t>Ammo loss could leave AI directionless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011680"/>
            <a:ext cx="4480560" cy="1737360"/>
          </a:xfrm>
          <a:prstGeom prst="rect">
            <a:avLst/>
          </a:prstGeom>
          <a:noFill/>
        </p:spPr>
        <p:txBody>
          <a:bodyPr wrap="square" lIns="73152" tIns="18288" rIns="73152" bIns="18288">
            <a:spAutoFit/>
          </a:bodyPr>
          <a:lstStyle/>
          <a:p>
            <a:pPr>
              <a:spcAft>
                <a:spcPts val="300"/>
              </a:spcAft>
              <a:defRPr sz="1400">
                <a:solidFill>
                  <a:srgbClr val="1C323E"/>
                </a:solidFill>
                <a:latin typeface="Aptos"/>
              </a:defRPr>
            </a:pPr>
            <a:r>
              <a:t>Remembered village weapons are reused later</a:t>
            </a:r>
          </a:p>
          <a:p>
            <a:pPr>
              <a:spcAft>
                <a:spcPts val="300"/>
              </a:spcAft>
              <a:defRPr sz="1400">
                <a:solidFill>
                  <a:srgbClr val="1C323E"/>
                </a:solidFill>
                <a:latin typeface="Aptos"/>
              </a:defRPr>
            </a:pPr>
            <a:r>
              <a:t>Medkit can be consumed to pick up a fresh one</a:t>
            </a:r>
          </a:p>
          <a:p>
            <a:pPr>
              <a:spcAft>
                <a:spcPts val="300"/>
              </a:spcAft>
              <a:defRPr sz="1400">
                <a:solidFill>
                  <a:srgbClr val="1C323E"/>
                </a:solidFill>
                <a:latin typeface="Aptos"/>
              </a:defRPr>
            </a:pPr>
            <a:r>
              <a:t>Ammo / health / stamina refresh updates decisions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650992" y="2766060"/>
            <a:ext cx="320040" cy="0"/>
          </a:xfrm>
          <a:prstGeom prst="line">
            <a:avLst/>
          </a:prstGeom>
          <a:ln w="25400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14400" y="4343400"/>
            <a:ext cx="3108960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1">
                <a:solidFill>
                  <a:srgbClr val="1C323E"/>
                </a:solidFill>
                <a:latin typeface="Aptos"/>
              </a:rPr>
              <a:t>Current priority logic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800600"/>
            <a:ext cx="2240280" cy="41148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Critical need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5230368"/>
            <a:ext cx="2240280" cy="502920"/>
          </a:xfrm>
          <a:prstGeom prst="roundRect">
            <a:avLst/>
          </a:prstGeom>
          <a:solidFill>
            <a:srgbClr val="F7F9FA"/>
          </a:solidFill>
          <a:ln w="12700">
            <a:solidFill>
              <a:srgbClr val="CD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200" b="0">
                <a:solidFill>
                  <a:srgbClr val="556069"/>
                </a:solidFill>
                <a:latin typeface="Aptos"/>
              </a:rPr>
              <a:t>medkit / food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20440" y="4800600"/>
            <a:ext cx="2240280" cy="41148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No weapon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20440" y="5230368"/>
            <a:ext cx="2240280" cy="502920"/>
          </a:xfrm>
          <a:prstGeom prst="roundRect">
            <a:avLst/>
          </a:prstGeom>
          <a:solidFill>
            <a:srgbClr val="F7F9FA"/>
          </a:solidFill>
          <a:ln w="12700">
            <a:solidFill>
              <a:srgbClr val="CD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200" b="0">
                <a:solidFill>
                  <a:srgbClr val="556069"/>
                </a:solidFill>
                <a:latin typeface="Aptos"/>
              </a:rPr>
              <a:t>pistol / shotgun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4800600"/>
            <a:ext cx="2240280" cy="411480"/>
          </a:xfrm>
          <a:prstGeom prst="roundRect">
            <a:avLst/>
          </a:prstGeom>
          <a:solidFill>
            <a:srgbClr val="F1F6F8"/>
          </a:solidFill>
          <a:ln w="12700">
            <a:solidFill>
              <a:srgbClr val="CD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200" b="1">
                <a:solidFill>
                  <a:srgbClr val="1C323E"/>
                </a:solidFill>
                <a:latin typeface="Aptos"/>
              </a:rPr>
              <a:t>Basic kit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5230368"/>
            <a:ext cx="2240280" cy="502920"/>
          </a:xfrm>
          <a:prstGeom prst="roundRect">
            <a:avLst/>
          </a:prstGeom>
          <a:solidFill>
            <a:srgbClr val="F7F9FA"/>
          </a:solidFill>
          <a:ln w="12700">
            <a:solidFill>
              <a:srgbClr val="CD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200" b="0">
                <a:solidFill>
                  <a:srgbClr val="556069"/>
                </a:solidFill>
                <a:latin typeface="Aptos"/>
              </a:rPr>
              <a:t>missing essentials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32520" y="4800600"/>
            <a:ext cx="2240280" cy="411480"/>
          </a:xfrm>
          <a:prstGeom prst="roundRect">
            <a:avLst/>
          </a:prstGeom>
          <a:solidFill>
            <a:srgbClr val="F1F6F8"/>
          </a:solidFill>
          <a:ln w="12700">
            <a:solidFill>
              <a:srgbClr val="CD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200" b="1">
                <a:solidFill>
                  <a:srgbClr val="1C323E"/>
                </a:solidFill>
                <a:latin typeface="Aptos"/>
              </a:rPr>
              <a:t>Extras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32520" y="5230368"/>
            <a:ext cx="2240280" cy="502920"/>
          </a:xfrm>
          <a:prstGeom prst="roundRect">
            <a:avLst/>
          </a:prstGeom>
          <a:solidFill>
            <a:srgbClr val="F7F9FA"/>
          </a:solidFill>
          <a:ln w="12700">
            <a:solidFill>
              <a:srgbClr val="CD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200" b="0">
                <a:solidFill>
                  <a:srgbClr val="556069"/>
                </a:solidFill>
                <a:latin typeface="Aptos"/>
              </a:rPr>
              <a:t>ammo &amp; backup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989320"/>
            <a:ext cx="987552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/>
            <a:r>
              <a:rPr sz="1400" b="0">
                <a:solidFill>
                  <a:srgbClr val="1C323E"/>
                </a:solidFill>
                <a:latin typeface="Aptos"/>
              </a:rPr>
              <a:t>Net effect: the agent carries resources forward instead of abandoning known pickups after one bad fight.</a:t>
            </a:r>
          </a:p>
        </p:txBody>
      </p:sp>
    </p:spTree>
    <p:extLst>
      <p:ext uri="{BB962C8B-B14F-4D97-AF65-F5344CB8AC3E}">
        <p14:creationId xmlns:p14="http://schemas.microsoft.com/office/powerpoint/2010/main" val="1604998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>
                <a:solidFill>
                  <a:srgbClr val="1C323E"/>
                </a:solidFill>
                <a:latin typeface="Aptos Display"/>
              </a:rPr>
              <a:t>Movement - Steering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BE" i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841248" y="1453896"/>
            <a:ext cx="1143000" cy="292608"/>
          </a:xfrm>
          <a:prstGeom prst="roundRect">
            <a:avLst/>
          </a:prstGeom>
          <a:solidFill>
            <a:srgbClr val="E76F51"/>
          </a:solidFill>
          <a:ln w="1270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BEFORE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55080" y="1453896"/>
            <a:ext cx="1143000" cy="29260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NOW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91640"/>
            <a:ext cx="4892040" cy="2148840"/>
          </a:xfrm>
          <a:prstGeom prst="roundRect">
            <a:avLst/>
          </a:prstGeom>
          <a:solidFill>
            <a:srgbClr val="F7F9FA"/>
          </a:solidFill>
          <a:ln w="12700">
            <a:solidFill>
              <a:srgbClr val="CD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989320" y="1691640"/>
            <a:ext cx="4892040" cy="2148840"/>
          </a:xfrm>
          <a:prstGeom prst="roundRect">
            <a:avLst/>
          </a:prstGeom>
          <a:solidFill>
            <a:srgbClr val="F7F9FA"/>
          </a:solidFill>
          <a:ln w="12700">
            <a:solidFill>
              <a:srgbClr val="CD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2011680"/>
            <a:ext cx="4480560" cy="1737360"/>
          </a:xfrm>
          <a:prstGeom prst="rect">
            <a:avLst/>
          </a:prstGeom>
          <a:noFill/>
        </p:spPr>
        <p:txBody>
          <a:bodyPr wrap="square" lIns="73152" tIns="18288" rIns="73152" bIns="18288">
            <a:spAutoFit/>
          </a:bodyPr>
          <a:lstStyle/>
          <a:p>
            <a:pPr>
              <a:spcAft>
                <a:spcPts val="300"/>
              </a:spcAft>
              <a:defRPr sz="1400">
                <a:solidFill>
                  <a:srgbClr val="556069"/>
                </a:solidFill>
                <a:latin typeface="Aptos"/>
              </a:defRPr>
            </a:pPr>
            <a:r>
              <a:t>Move targets were mostly random reachable points</a:t>
            </a:r>
          </a:p>
          <a:p>
            <a:pPr>
              <a:spcAft>
                <a:spcPts val="300"/>
              </a:spcAft>
              <a:defRPr sz="1400">
                <a:solidFill>
                  <a:srgbClr val="556069"/>
                </a:solidFill>
                <a:latin typeface="Aptos"/>
              </a:defRPr>
            </a:pPr>
            <a:r>
              <a:t>Flee selected a point once and committed too hard</a:t>
            </a:r>
          </a:p>
          <a:p>
            <a:pPr>
              <a:spcAft>
                <a:spcPts val="300"/>
              </a:spcAft>
              <a:defRPr sz="1400">
                <a:solidFill>
                  <a:srgbClr val="556069"/>
                </a:solidFill>
                <a:latin typeface="Aptos"/>
              </a:defRPr>
            </a:pPr>
            <a:r>
              <a:t>No memory of recently dangerous positions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011680"/>
            <a:ext cx="4480560" cy="1737360"/>
          </a:xfrm>
          <a:prstGeom prst="rect">
            <a:avLst/>
          </a:prstGeom>
          <a:noFill/>
        </p:spPr>
        <p:txBody>
          <a:bodyPr wrap="square" lIns="73152" tIns="18288" rIns="73152" bIns="18288">
            <a:spAutoFit/>
          </a:bodyPr>
          <a:lstStyle/>
          <a:p>
            <a:pPr>
              <a:spcAft>
                <a:spcPts val="300"/>
              </a:spcAft>
              <a:defRPr sz="1400">
                <a:solidFill>
                  <a:srgbClr val="1C323E"/>
                </a:solidFill>
                <a:latin typeface="Aptos"/>
              </a:defRPr>
            </a:pPr>
            <a:r>
              <a:t>Flee blends enemy-away, separation, and outward movement</a:t>
            </a:r>
          </a:p>
          <a:p>
            <a:pPr>
              <a:spcAft>
                <a:spcPts val="300"/>
              </a:spcAft>
              <a:defRPr sz="1400">
                <a:solidFill>
                  <a:srgbClr val="1C323E"/>
                </a:solidFill>
                <a:latin typeface="Aptos"/>
              </a:defRPr>
            </a:pPr>
            <a:r>
              <a:t>Move target refreshes while fleeing</a:t>
            </a:r>
          </a:p>
          <a:p>
            <a:pPr>
              <a:spcAft>
                <a:spcPts val="300"/>
              </a:spcAft>
              <a:defRPr sz="1400">
                <a:solidFill>
                  <a:srgbClr val="1C323E"/>
                </a:solidFill>
                <a:latin typeface="Aptos"/>
              </a:defRPr>
            </a:pPr>
            <a:r>
              <a:t>Danger zones prevent walking back into a chase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650992" y="2766060"/>
            <a:ext cx="320040" cy="0"/>
          </a:xfrm>
          <a:prstGeom prst="line">
            <a:avLst/>
          </a:prstGeom>
          <a:ln w="25400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440680" y="4681727"/>
            <a:ext cx="822960" cy="411480"/>
          </a:xfrm>
          <a:prstGeom prst="roundRect">
            <a:avLst/>
          </a:prstGeom>
          <a:solidFill>
            <a:srgbClr val="437CA7"/>
          </a:solidFill>
          <a:ln w="12700">
            <a:solidFill>
              <a:srgbClr val="437C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Survivor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0" y="4572000"/>
            <a:ext cx="868680" cy="411480"/>
          </a:xfrm>
          <a:prstGeom prst="roundRect">
            <a:avLst/>
          </a:prstGeom>
          <a:solidFill>
            <a:srgbClr val="E76F51"/>
          </a:solidFill>
          <a:ln w="1270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Enemy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0" y="5760720"/>
            <a:ext cx="1234440" cy="411480"/>
          </a:xfrm>
          <a:prstGeom prst="roundRect">
            <a:avLst/>
          </a:prstGeom>
          <a:solidFill>
            <a:srgbClr val="F1F6F8"/>
          </a:solidFill>
          <a:ln w="12700">
            <a:solidFill>
              <a:srgbClr val="CD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100" b="0">
                <a:solidFill>
                  <a:srgbClr val="556069"/>
                </a:solidFill>
                <a:latin typeface="Aptos"/>
              </a:rPr>
              <a:t>Old village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21040" y="5440680"/>
            <a:ext cx="1143000" cy="411480"/>
          </a:xfrm>
          <a:prstGeom prst="roundRect">
            <a:avLst/>
          </a:prstGeom>
          <a:solidFill>
            <a:srgbClr val="E76F51"/>
          </a:solidFill>
          <a:ln w="1270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Other threat</a:t>
            </a:r>
          </a:p>
        </p:txBody>
      </p:sp>
      <p:cxnSp>
        <p:nvCxnSpPr>
          <p:cNvPr id="15" name="Connector 14"/>
          <p:cNvCxnSpPr/>
          <p:nvPr/>
        </p:nvCxnSpPr>
        <p:spPr>
          <a:xfrm flipH="1" flipV="1">
            <a:off x="3703320" y="4754880"/>
            <a:ext cx="1737360" cy="137160"/>
          </a:xfrm>
          <a:prstGeom prst="line">
            <a:avLst/>
          </a:prstGeom>
          <a:ln w="2540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977639" y="4370832"/>
            <a:ext cx="731520" cy="2286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E76F51"/>
                </a:solidFill>
                <a:latin typeface="Aptos"/>
              </a:rPr>
              <a:t>away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263640" y="5056631"/>
            <a:ext cx="1783080" cy="384049"/>
          </a:xfrm>
          <a:prstGeom prst="line">
            <a:avLst/>
          </a:prstGeom>
          <a:ln w="2540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315200" y="5166360"/>
            <a:ext cx="914400" cy="2286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E76F51"/>
                </a:solidFill>
                <a:latin typeface="Aptos"/>
              </a:rPr>
              <a:t>separate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52160" y="5093207"/>
            <a:ext cx="228600" cy="621793"/>
          </a:xfrm>
          <a:prstGeom prst="line">
            <a:avLst/>
          </a:prstGeom>
          <a:ln w="25400">
            <a:solidFill>
              <a:srgbClr val="E9C4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217920" y="5486400"/>
            <a:ext cx="914400" cy="2286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000" b="0">
                <a:solidFill>
                  <a:srgbClr val="E9C46A"/>
                </a:solidFill>
                <a:latin typeface="Aptos"/>
              </a:rPr>
              <a:t>outward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5943600" y="3977639"/>
            <a:ext cx="2011679" cy="685801"/>
          </a:xfrm>
          <a:prstGeom prst="line">
            <a:avLst/>
          </a:prstGeom>
          <a:ln w="38100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001000" y="3703320"/>
            <a:ext cx="1645920" cy="45720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Chosen flee point</a:t>
            </a:r>
          </a:p>
        </p:txBody>
      </p:sp>
    </p:spTree>
    <p:extLst>
      <p:ext uri="{BB962C8B-B14F-4D97-AF65-F5344CB8AC3E}">
        <p14:creationId xmlns:p14="http://schemas.microsoft.com/office/powerpoint/2010/main" val="32677628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>
                <a:solidFill>
                  <a:srgbClr val="1C323E"/>
                </a:solidFill>
                <a:latin typeface="Aptos Display"/>
              </a:rPr>
              <a:t>Movement </a:t>
            </a:r>
            <a:r>
              <a:rPr lang="en-US" sz="3600">
                <a:solidFill>
                  <a:srgbClr val="1C323E"/>
                </a:solidFill>
                <a:latin typeface="Aptos Display"/>
              </a:rPr>
              <a:t>- Exploration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41248" y="1453896"/>
            <a:ext cx="1143000" cy="292608"/>
          </a:xfrm>
          <a:prstGeom prst="roundRect">
            <a:avLst/>
          </a:prstGeom>
          <a:solidFill>
            <a:srgbClr val="E76F51"/>
          </a:solidFill>
          <a:ln w="1270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BEFORE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55080" y="1453896"/>
            <a:ext cx="1143000" cy="29260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NOW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91640"/>
            <a:ext cx="4892040" cy="2148840"/>
          </a:xfrm>
          <a:prstGeom prst="roundRect">
            <a:avLst/>
          </a:prstGeom>
          <a:solidFill>
            <a:srgbClr val="F7F9FA"/>
          </a:solidFill>
          <a:ln w="12700">
            <a:solidFill>
              <a:srgbClr val="CD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989320" y="1691640"/>
            <a:ext cx="4892040" cy="2148840"/>
          </a:xfrm>
          <a:prstGeom prst="roundRect">
            <a:avLst/>
          </a:prstGeom>
          <a:solidFill>
            <a:srgbClr val="F7F9FA"/>
          </a:solidFill>
          <a:ln w="12700">
            <a:solidFill>
              <a:srgbClr val="CD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2011680"/>
            <a:ext cx="4480560" cy="1737360"/>
          </a:xfrm>
          <a:prstGeom prst="rect">
            <a:avLst/>
          </a:prstGeom>
          <a:noFill/>
        </p:spPr>
        <p:txBody>
          <a:bodyPr wrap="square" lIns="73152" tIns="18288" rIns="73152" bIns="18288">
            <a:spAutoFit/>
          </a:bodyPr>
          <a:lstStyle/>
          <a:p>
            <a:pPr>
              <a:spcAft>
                <a:spcPts val="300"/>
              </a:spcAft>
              <a:defRPr sz="1400">
                <a:solidFill>
                  <a:srgbClr val="556069"/>
                </a:solidFill>
                <a:latin typeface="Aptos"/>
              </a:defRPr>
            </a:pPr>
            <a:r>
              <a:t>After village sweep, exploration could fall back to random wandering</a:t>
            </a:r>
          </a:p>
          <a:p>
            <a:pPr>
              <a:spcAft>
                <a:spcPts val="300"/>
              </a:spcAft>
              <a:defRPr sz="1400">
                <a:solidFill>
                  <a:srgbClr val="556069"/>
                </a:solidFill>
                <a:latin typeface="Aptos"/>
              </a:defRPr>
            </a:pPr>
            <a:r>
              <a:t>Old houses could reset the same village sweep</a:t>
            </a:r>
          </a:p>
          <a:p>
            <a:pPr>
              <a:spcAft>
                <a:spcPts val="300"/>
              </a:spcAft>
              <a:defRPr sz="1400">
                <a:solidFill>
                  <a:srgbClr val="556069"/>
                </a:solidFill>
                <a:latin typeface="Aptos"/>
              </a:defRPr>
            </a:pPr>
            <a:r>
              <a:t>Inventory guns kept the agent camping too long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011680"/>
            <a:ext cx="4480560" cy="1737360"/>
          </a:xfrm>
          <a:prstGeom prst="rect">
            <a:avLst/>
          </a:prstGeom>
          <a:noFill/>
        </p:spPr>
        <p:txBody>
          <a:bodyPr wrap="square" lIns="73152" tIns="18288" rIns="73152" bIns="18288">
            <a:spAutoFit/>
          </a:bodyPr>
          <a:lstStyle/>
          <a:p>
            <a:pPr>
              <a:spcAft>
                <a:spcPts val="300"/>
              </a:spcAft>
              <a:defRPr sz="1400">
                <a:solidFill>
                  <a:srgbClr val="1C323E"/>
                </a:solidFill>
                <a:latin typeface="Aptos"/>
              </a:defRPr>
            </a:pPr>
            <a:r>
              <a:t>Village is depleted when no known houses / village guns remain</a:t>
            </a:r>
          </a:p>
          <a:p>
            <a:pPr>
              <a:spcAft>
                <a:spcPts val="300"/>
              </a:spcAft>
              <a:defRPr sz="1400">
                <a:solidFill>
                  <a:srgbClr val="1C323E"/>
                </a:solidFill>
                <a:latin typeface="Aptos"/>
              </a:defRPr>
            </a:pPr>
            <a:r>
              <a:t>Old searched houses do not cancel travel</a:t>
            </a:r>
          </a:p>
          <a:p>
            <a:pPr>
              <a:spcAft>
                <a:spcPts val="300"/>
              </a:spcAft>
              <a:defRPr sz="1400">
                <a:solidFill>
                  <a:srgbClr val="1C323E"/>
                </a:solidFill>
                <a:latin typeface="Aptos"/>
              </a:defRPr>
            </a:pPr>
            <a:r>
              <a:t>Between villages, search follows the inferred spawn ring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650992" y="2766060"/>
            <a:ext cx="320040" cy="0"/>
          </a:xfrm>
          <a:prstGeom prst="line">
            <a:avLst/>
          </a:prstGeom>
          <a:ln w="25400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14400" y="4160520"/>
            <a:ext cx="3108960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600" b="1">
                <a:solidFill>
                  <a:srgbClr val="1C323E"/>
                </a:solidFill>
                <a:latin typeface="Aptos"/>
              </a:rPr>
              <a:t>New travel pattern</a:t>
            </a:r>
          </a:p>
        </p:txBody>
      </p:sp>
      <p:sp>
        <p:nvSpPr>
          <p:cNvPr id="12" name="Oval 11"/>
          <p:cNvSpPr/>
          <p:nvPr/>
        </p:nvSpPr>
        <p:spPr>
          <a:xfrm>
            <a:off x="1828800" y="4343400"/>
            <a:ext cx="2743200" cy="1463040"/>
          </a:xfrm>
          <a:prstGeom prst="ellipse">
            <a:avLst/>
          </a:prstGeom>
          <a:noFill/>
          <a:ln w="19050">
            <a:solidFill>
              <a:srgbClr val="CD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2697480" y="4800600"/>
            <a:ext cx="914400" cy="292608"/>
          </a:xfrm>
          <a:prstGeom prst="roundRect">
            <a:avLst/>
          </a:prstGeom>
          <a:solidFill>
            <a:srgbClr val="F1F6F8"/>
          </a:solidFill>
          <a:ln w="12700">
            <a:solidFill>
              <a:srgbClr val="CD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900" b="0">
                <a:solidFill>
                  <a:srgbClr val="556069"/>
                </a:solidFill>
                <a:latin typeface="Aptos"/>
              </a:rPr>
              <a:t>origin area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11680" y="4800600"/>
            <a:ext cx="566928" cy="29260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800" b="0">
                <a:solidFill>
                  <a:srgbClr val="FFFFFF"/>
                </a:solidFill>
                <a:latin typeface="Aptos"/>
              </a:rPr>
              <a:t>house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26080" y="4416552"/>
            <a:ext cx="566928" cy="292608"/>
          </a:xfrm>
          <a:prstGeom prst="roundRect">
            <a:avLst/>
          </a:prstGeom>
          <a:solidFill>
            <a:srgbClr val="F7F9FA"/>
          </a:solidFill>
          <a:ln w="12700">
            <a:solidFill>
              <a:srgbClr val="CD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800" b="0">
                <a:solidFill>
                  <a:srgbClr val="1C323E"/>
                </a:solidFill>
                <a:latin typeface="Aptos"/>
              </a:rPr>
              <a:t>house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94760" y="4773168"/>
            <a:ext cx="566928" cy="292608"/>
          </a:xfrm>
          <a:prstGeom prst="roundRect">
            <a:avLst/>
          </a:prstGeom>
          <a:solidFill>
            <a:srgbClr val="F7F9FA"/>
          </a:solidFill>
          <a:ln w="12700">
            <a:solidFill>
              <a:srgbClr val="CD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800" b="0">
                <a:solidFill>
                  <a:srgbClr val="1C323E"/>
                </a:solidFill>
                <a:latin typeface="Aptos"/>
              </a:rPr>
              <a:t>house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34640" y="5532120"/>
            <a:ext cx="566928" cy="292608"/>
          </a:xfrm>
          <a:prstGeom prst="roundRect">
            <a:avLst/>
          </a:prstGeom>
          <a:solidFill>
            <a:srgbClr val="F7F9FA"/>
          </a:solidFill>
          <a:ln w="12700">
            <a:solidFill>
              <a:srgbClr val="CD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800" b="0">
                <a:solidFill>
                  <a:srgbClr val="1C323E"/>
                </a:solidFill>
                <a:latin typeface="Aptos"/>
              </a:rPr>
              <a:t>house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2487168" y="4535424"/>
            <a:ext cx="347472" cy="356616"/>
          </a:xfrm>
          <a:prstGeom prst="line">
            <a:avLst/>
          </a:prstGeom>
          <a:ln w="25400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456432" y="4535424"/>
            <a:ext cx="292607" cy="256032"/>
          </a:xfrm>
          <a:prstGeom prst="line">
            <a:avLst/>
          </a:prstGeom>
          <a:ln w="25400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120640" y="4572000"/>
            <a:ext cx="5303520" cy="8229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500" b="0">
                <a:solidFill>
                  <a:srgbClr val="1C323E"/>
                </a:solidFill>
                <a:latin typeface="Aptos"/>
              </a:rPr>
              <a:t>Instead of searching anywhere, movement sweeps around where villages are likely to spawn.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0" y="5349240"/>
            <a:ext cx="5303520" cy="45720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0">
                <a:solidFill>
                  <a:srgbClr val="556069"/>
                </a:solidFill>
                <a:latin typeface="Aptos"/>
              </a:rPr>
              <a:t>This is still perception-safe: it uses remembered village position, not hidden village actors.</a:t>
            </a:r>
          </a:p>
        </p:txBody>
      </p:sp>
    </p:spTree>
    <p:extLst>
      <p:ext uri="{BB962C8B-B14F-4D97-AF65-F5344CB8AC3E}">
        <p14:creationId xmlns:p14="http://schemas.microsoft.com/office/powerpoint/2010/main" val="16521424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23942CCEB3A674D8F1F6472CCEFB38E" ma:contentTypeVersion="11" ma:contentTypeDescription="Create a new document." ma:contentTypeScope="" ma:versionID="e4de40d148e029d40e3aaddc8bf68a5e">
  <xsd:schema xmlns:xsd="http://www.w3.org/2001/XMLSchema" xmlns:xs="http://www.w3.org/2001/XMLSchema" xmlns:p="http://schemas.microsoft.com/office/2006/metadata/properties" xmlns:ns2="128482ec-0431-40d5-ab26-89ea2a4f3ccd" xmlns:ns3="60eb0cf4-ae2a-4762-800a-cb593b869ecb" xmlns:ns4="http://schemas.microsoft.com/sharepoint/v4" xmlns:ns5="a2e691a9-fcfc-4d85-a390-1894fe98bd9e" targetNamespace="http://schemas.microsoft.com/office/2006/metadata/properties" ma:root="true" ma:fieldsID="fce8e8bd091658f3fe51b22d57dec109" ns2:_="" ns3:_="" ns4:_="" ns5:_="">
    <xsd:import namespace="128482ec-0431-40d5-ab26-89ea2a4f3ccd"/>
    <xsd:import namespace="60eb0cf4-ae2a-4762-800a-cb593b869ecb"/>
    <xsd:import namespace="http://schemas.microsoft.com/sharepoint/v4"/>
    <xsd:import namespace="a2e691a9-fcfc-4d85-a390-1894fe98bd9e"/>
    <xsd:element name="properties">
      <xsd:complexType>
        <xsd:sequence>
          <xsd:element name="documentManagement">
            <xsd:complexType>
              <xsd:all>
                <xsd:element ref="ns2:m99485b88215436a82099f8287cba0b0" minOccurs="0"/>
                <xsd:element ref="ns2:TaxCatchAll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MediaServiceLocation" minOccurs="0"/>
                <xsd:element ref="ns4:IconOverlay" minOccurs="0"/>
                <xsd:element ref="ns5:SharedWithUsers" minOccurs="0"/>
                <xsd:element ref="ns5:SharedWithDetails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lcf76f155ced4ddcb4097134ff3c332f" minOccurs="0"/>
                <xsd:element ref="ns3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8482ec-0431-40d5-ab26-89ea2a4f3ccd" elementFormDefault="qualified">
    <xsd:import namespace="http://schemas.microsoft.com/office/2006/documentManagement/types"/>
    <xsd:import namespace="http://schemas.microsoft.com/office/infopath/2007/PartnerControls"/>
    <xsd:element name="m99485b88215436a82099f8287cba0b0" ma:index="9" nillable="true" ma:taxonomy="true" ma:internalName="m99485b88215436a82099f8287cba0b0" ma:taxonomyFieldName="Kernteam" ma:displayName="Kernteam" ma:default="" ma:fieldId="{699485b8-8215-436a-8209-9f8287cba0b0}" ma:taxonomyMulti="true" ma:sspId="9d9af33d-1c7e-4655-8224-df3a670842a4" ma:termSetId="f2199854-b90f-4d12-b5f9-723340d5e437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axCatchAll" ma:index="10" nillable="true" ma:displayName="Taxonomy Catch All Column" ma:hidden="true" ma:list="{26a5f98c-5cc8-4015-9754-f7f59d70125b}" ma:internalName="TaxCatchAll" ma:showField="CatchAllData" ma:web="128482ec-0431-40d5-ab26-89ea2a4f3cc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0eb0cf4-ae2a-4762-800a-cb593b869ec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4" nillable="true" ma:displayName="MediaServiceAutoTags" ma:internalName="MediaServiceAutoTags" ma:readOnly="true">
      <xsd:simpleType>
        <xsd:restriction base="dms:Text"/>
      </xsd:simpleType>
    </xsd:element>
    <xsd:element name="MediaServiceOCR" ma:index="15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6" nillable="true" ma:displayName="MediaServiceLocation" ma:internalName="MediaServiceLocation" ma:readOnly="true">
      <xsd:simpleType>
        <xsd:restriction base="dms:Text"/>
      </xsd:simpleType>
    </xsd:element>
    <xsd:element name="MediaServiceGenerationTime" ma:index="20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2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4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6" nillable="true" ma:taxonomy="true" ma:internalName="lcf76f155ced4ddcb4097134ff3c332f" ma:taxonomyFieldName="MediaServiceImageTags" ma:displayName="Image Tags" ma:readOnly="false" ma:fieldId="{5cf76f15-5ced-4ddc-b409-7134ff3c332f}" ma:taxonomyMulti="true" ma:sspId="9d9af33d-1c7e-4655-8224-df3a670842a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7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4" elementFormDefault="qualified">
    <xsd:import namespace="http://schemas.microsoft.com/office/2006/documentManagement/types"/>
    <xsd:import namespace="http://schemas.microsoft.com/office/infopath/2007/PartnerControls"/>
    <xsd:element name="IconOverlay" ma:index="17" nillable="true" ma:displayName="IconOverlay" ma:hidden="true" ma:internalName="IconOverlay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2e691a9-fcfc-4d85-a390-1894fe98bd9e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Gedeeld met" ma:SearchPeopleOnly="false" ma:SharePointGroup="0" ma:internalName="SharedWithUsers" ma:readOnly="true" ma:showField="ImnNam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conOverlay xmlns="http://schemas.microsoft.com/sharepoint/v4" xsi:nil="true"/>
    <TaxCatchAll xmlns="128482ec-0431-40d5-ab26-89ea2a4f3ccd" xsi:nil="true"/>
    <m99485b88215436a82099f8287cba0b0 xmlns="128482ec-0431-40d5-ab26-89ea2a4f3ccd">
      <Terms xmlns="http://schemas.microsoft.com/office/infopath/2007/PartnerControls"/>
    </m99485b88215436a82099f8287cba0b0>
    <lcf76f155ced4ddcb4097134ff3c332f xmlns="60eb0cf4-ae2a-4762-800a-cb593b869ecb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D7B8C5DE-3345-4025-A942-C5AA68E5554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28482ec-0431-40d5-ab26-89ea2a4f3ccd"/>
    <ds:schemaRef ds:uri="60eb0cf4-ae2a-4762-800a-cb593b869ecb"/>
    <ds:schemaRef ds:uri="http://schemas.microsoft.com/sharepoint/v4"/>
    <ds:schemaRef ds:uri="a2e691a9-fcfc-4d85-a390-1894fe98bd9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F8EC6D1-CB19-4400-AD0A-0C75CD884AE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743389A-7EE0-4951-8919-E91DD69E3687}">
  <ds:schemaRefs>
    <ds:schemaRef ds:uri="http://purl.org/dc/elements/1.1/"/>
    <ds:schemaRef ds:uri="128482ec-0431-40d5-ab26-89ea2a4f3ccd"/>
    <ds:schemaRef ds:uri="http://schemas.microsoft.com/office/2006/metadata/properties"/>
    <ds:schemaRef ds:uri="60eb0cf4-ae2a-4762-800a-cb593b869ecb"/>
    <ds:schemaRef ds:uri="http://schemas.microsoft.com/office/2006/documentManagement/types"/>
    <ds:schemaRef ds:uri="http://purl.org/dc/dcmitype/"/>
    <ds:schemaRef ds:uri="http://www.w3.org/XML/1998/namespace"/>
    <ds:schemaRef ds:uri="http://schemas.openxmlformats.org/package/2006/metadata/core-properties"/>
    <ds:schemaRef ds:uri="http://purl.org/dc/terms/"/>
    <ds:schemaRef ds:uri="http://schemas.microsoft.com/office/infopath/2007/PartnerControls"/>
    <ds:schemaRef ds:uri="a2e691a9-fcfc-4d85-a390-1894fe98bd9e"/>
    <ds:schemaRef ds:uri="http://schemas.microsoft.com/sharepoint/v4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425</Words>
  <Application>Microsoft Office PowerPoint</Application>
  <PresentationFormat>Breedbeeld</PresentationFormat>
  <Paragraphs>87</Paragraphs>
  <Slides>6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5</vt:i4>
      </vt:variant>
      <vt:variant>
        <vt:lpstr>Thema</vt:lpstr>
      </vt:variant>
      <vt:variant>
        <vt:i4>1</vt:i4>
      </vt:variant>
      <vt:variant>
        <vt:lpstr>Diatitels</vt:lpstr>
      </vt:variant>
      <vt:variant>
        <vt:i4>6</vt:i4>
      </vt:variant>
    </vt:vector>
  </HeadingPairs>
  <TitlesOfParts>
    <vt:vector size="12" baseType="lpstr">
      <vt:lpstr>Aptos</vt:lpstr>
      <vt:lpstr>Aptos Display</vt:lpstr>
      <vt:lpstr>Arial</vt:lpstr>
      <vt:lpstr>Calibri</vt:lpstr>
      <vt:lpstr>Calibri Light</vt:lpstr>
      <vt:lpstr>Office Theme</vt:lpstr>
      <vt:lpstr>GPP Exam: Zombie AI</vt:lpstr>
      <vt:lpstr>Decision Making</vt:lpstr>
      <vt:lpstr>Enemy handling</vt:lpstr>
      <vt:lpstr>Inventory</vt:lpstr>
      <vt:lpstr>Movement - Steering</vt:lpstr>
      <vt:lpstr>Movement - Exploration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GPP Exam: Zombie AI</dc:title>
  <dc:creator>Vandaele Yosha</dc:creator>
  <cp:lastModifiedBy>Thymme Mouchrique</cp:lastModifiedBy>
  <cp:revision>3</cp:revision>
  <dcterms:created xsi:type="dcterms:W3CDTF">2021-12-17T12:45:32Z</dcterms:created>
  <dcterms:modified xsi:type="dcterms:W3CDTF">2026-08-15T21:22:02Z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0x010100723942CCEB3A674D8F1F6472CCEFB38E</vt:lpwstr>
  </property>
  <property fmtid="{D5CDD505-2E9C-101B-9397-08002B2CF9AE}" pid="3" name="Kernteam">
    <vt:lpwstr/>
  </property>
  <property fmtid="{D5CDD505-2E9C-101B-9397-08002B2CF9AE}" pid="4" name="MediaServiceImageTags">
    <vt:lpwstr/>
  </property>
</Properties>
</file>